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3aaa118da_2_1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a3aaa118da_2_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3aaa118da_2_1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a3aaa118da_2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3aaa118da_2_1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a3aaa118da_2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3aaa118da_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a3aaa118da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3aaa118da_3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3aaa118da_3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3aaa118da_3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a3aaa118da_3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3aaa118da_3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a3aaa118da_3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3aaa118da_2_2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a3aaa118da_2_2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Обложка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circle with white text&#10;&#10;Description automatically generated with low confidence" id="57" name="Google Shape;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394" y="721630"/>
            <a:ext cx="664874" cy="664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4"/>
          <p:cNvCxnSpPr/>
          <p:nvPr/>
        </p:nvCxnSpPr>
        <p:spPr>
          <a:xfrm>
            <a:off x="4567659" y="739002"/>
            <a:ext cx="0" cy="63013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" name="Google Shape;59;p14"/>
          <p:cNvCxnSpPr/>
          <p:nvPr/>
        </p:nvCxnSpPr>
        <p:spPr>
          <a:xfrm>
            <a:off x="6481936" y="739002"/>
            <a:ext cx="0" cy="63013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" name="Google Shape;60;p14"/>
          <p:cNvCxnSpPr/>
          <p:nvPr/>
        </p:nvCxnSpPr>
        <p:spPr>
          <a:xfrm>
            <a:off x="8384285" y="739002"/>
            <a:ext cx="0" cy="63013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" name="Google Shape;61;p14"/>
          <p:cNvSpPr txBox="1"/>
          <p:nvPr>
            <p:ph type="title"/>
          </p:nvPr>
        </p:nvSpPr>
        <p:spPr>
          <a:xfrm>
            <a:off x="770975" y="1803503"/>
            <a:ext cx="5725544" cy="1483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b="0" i="0" sz="3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1556210" y="890881"/>
            <a:ext cx="2886538" cy="326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 i="0" sz="12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694565" y="880372"/>
            <a:ext cx="1708547" cy="347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  <a:defRPr b="0" i="0" sz="9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3" type="body"/>
          </p:nvPr>
        </p:nvSpPr>
        <p:spPr>
          <a:xfrm>
            <a:off x="6590040" y="880372"/>
            <a:ext cx="1663304" cy="347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  <a:defRPr b="0" i="0" sz="9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4" type="body"/>
          </p:nvPr>
        </p:nvSpPr>
        <p:spPr>
          <a:xfrm>
            <a:off x="770975" y="3618685"/>
            <a:ext cx="5718950" cy="489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1">
  <p:cSld name="Текст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5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" name="Google Shape;69;p15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" name="Google Shape;70;p15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15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" sz="15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p15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" name="Google Shape;73;p15"/>
          <p:cNvSpPr/>
          <p:nvPr>
            <p:ph idx="2" type="pic"/>
          </p:nvPr>
        </p:nvSpPr>
        <p:spPr>
          <a:xfrm>
            <a:off x="5013490" y="1085842"/>
            <a:ext cx="3243875" cy="324383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74" name="Google Shape;74;p15"/>
          <p:cNvSpPr txBox="1"/>
          <p:nvPr>
            <p:ph type="title"/>
          </p:nvPr>
        </p:nvSpPr>
        <p:spPr>
          <a:xfrm>
            <a:off x="439424" y="1085843"/>
            <a:ext cx="3934170" cy="582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439423" y="1784747"/>
            <a:ext cx="3934171" cy="25449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3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4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5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2">
  <p:cSld name="Текст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80" name="Google Shape;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6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" name="Google Shape;82;p16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" name="Google Shape;83;p16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" name="Google Shape;84;p16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16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9423" y="1085843"/>
            <a:ext cx="8293466" cy="582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3" type="body"/>
          </p:nvPr>
        </p:nvSpPr>
        <p:spPr>
          <a:xfrm>
            <a:off x="439423" y="1784747"/>
            <a:ext cx="8293478" cy="28088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4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3">
  <p:cSld name="Текст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92" name="Google Shape;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17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" name="Google Shape;94;p17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" name="Google Shape;95;p17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17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17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7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3" type="body"/>
          </p:nvPr>
        </p:nvSpPr>
        <p:spPr>
          <a:xfrm>
            <a:off x="439424" y="1784747"/>
            <a:ext cx="3241898" cy="17995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4" type="body"/>
          </p:nvPr>
        </p:nvSpPr>
        <p:spPr>
          <a:xfrm>
            <a:off x="439423" y="3887437"/>
            <a:ext cx="2950759" cy="415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5" type="body"/>
          </p:nvPr>
        </p:nvSpPr>
        <p:spPr>
          <a:xfrm>
            <a:off x="4694919" y="1784747"/>
            <a:ext cx="4037976" cy="2588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2400"/>
              <a:buFont typeface="Arial"/>
              <a:buNone/>
              <a:defRPr b="0" i="0" sz="24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6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439423" y="1085843"/>
            <a:ext cx="8293466" cy="582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1">
  <p:cSld name="График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06" name="Google Shape;10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18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" name="Google Shape;108;p18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" name="Google Shape;109;p18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18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18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3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439424" y="1085843"/>
            <a:ext cx="3241898" cy="582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4" type="body"/>
          </p:nvPr>
        </p:nvSpPr>
        <p:spPr>
          <a:xfrm>
            <a:off x="439424" y="1784747"/>
            <a:ext cx="3241898" cy="17995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5" type="body"/>
          </p:nvPr>
        </p:nvSpPr>
        <p:spPr>
          <a:xfrm>
            <a:off x="439423" y="3887437"/>
            <a:ext cx="2950759" cy="415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p18"/>
          <p:cNvSpPr/>
          <p:nvPr>
            <p:ph idx="6" type="chart"/>
          </p:nvPr>
        </p:nvSpPr>
        <p:spPr>
          <a:xfrm>
            <a:off x="3954073" y="1085843"/>
            <a:ext cx="4778826" cy="321709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2">
  <p:cSld name="График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20" name="Google Shape;1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19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" name="Google Shape;122;p19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" name="Google Shape;123;p19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19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19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3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4" type="body"/>
          </p:nvPr>
        </p:nvSpPr>
        <p:spPr>
          <a:xfrm>
            <a:off x="439423" y="3887437"/>
            <a:ext cx="2950759" cy="415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p19"/>
          <p:cNvSpPr/>
          <p:nvPr>
            <p:ph idx="5" type="chart"/>
          </p:nvPr>
        </p:nvSpPr>
        <p:spPr>
          <a:xfrm>
            <a:off x="3954073" y="1085843"/>
            <a:ext cx="4778826" cy="321709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6" type="body"/>
          </p:nvPr>
        </p:nvSpPr>
        <p:spPr>
          <a:xfrm>
            <a:off x="439341" y="1085298"/>
            <a:ext cx="3242072" cy="5274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200"/>
              <a:buNone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2" name="Google Shape;132;p19"/>
          <p:cNvSpPr txBox="1"/>
          <p:nvPr>
            <p:ph idx="7" type="body"/>
          </p:nvPr>
        </p:nvSpPr>
        <p:spPr>
          <a:xfrm>
            <a:off x="439424" y="1784747"/>
            <a:ext cx="3241898" cy="17995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фры">
  <p:cSld name="Цифры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34" name="Google Shape;1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20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20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20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" name="Google Shape;138;p20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20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1" name="Google Shape;141;p20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20"/>
          <p:cNvSpPr txBox="1"/>
          <p:nvPr>
            <p:ph idx="3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0"/>
          <p:cNvSpPr txBox="1"/>
          <p:nvPr>
            <p:ph type="title"/>
          </p:nvPr>
        </p:nvSpPr>
        <p:spPr>
          <a:xfrm>
            <a:off x="439423" y="1085843"/>
            <a:ext cx="8293466" cy="582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0"/>
          <p:cNvSpPr txBox="1"/>
          <p:nvPr>
            <p:ph idx="4" type="body"/>
          </p:nvPr>
        </p:nvSpPr>
        <p:spPr>
          <a:xfrm>
            <a:off x="431307" y="3077996"/>
            <a:ext cx="2068607" cy="11772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5" name="Google Shape;145;p20"/>
          <p:cNvSpPr txBox="1"/>
          <p:nvPr>
            <p:ph idx="5" type="body"/>
          </p:nvPr>
        </p:nvSpPr>
        <p:spPr>
          <a:xfrm>
            <a:off x="3035255" y="3077996"/>
            <a:ext cx="2068209" cy="11772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20"/>
          <p:cNvSpPr txBox="1"/>
          <p:nvPr>
            <p:ph idx="6" type="body"/>
          </p:nvPr>
        </p:nvSpPr>
        <p:spPr>
          <a:xfrm>
            <a:off x="5639204" y="3077996"/>
            <a:ext cx="2068209" cy="117724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20"/>
          <p:cNvSpPr txBox="1"/>
          <p:nvPr>
            <p:ph idx="7" type="body"/>
          </p:nvPr>
        </p:nvSpPr>
        <p:spPr>
          <a:xfrm>
            <a:off x="431307" y="2032676"/>
            <a:ext cx="2068607" cy="87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>
                <a:latin typeface="Arial"/>
                <a:ea typeface="Arial"/>
                <a:cs typeface="Arial"/>
                <a:sym typeface="Arial"/>
              </a:defRPr>
            </a:lvl1pPr>
            <a:lvl2pPr indent="-685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2pPr>
            <a:lvl3pPr indent="-685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3pPr>
            <a:lvl4pPr indent="-685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4pPr>
            <a:lvl5pPr indent="-685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0"/>
          <p:cNvSpPr txBox="1"/>
          <p:nvPr>
            <p:ph idx="8" type="body"/>
          </p:nvPr>
        </p:nvSpPr>
        <p:spPr>
          <a:xfrm>
            <a:off x="3035255" y="2032676"/>
            <a:ext cx="2068607" cy="87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>
                <a:latin typeface="Arial"/>
                <a:ea typeface="Arial"/>
                <a:cs typeface="Arial"/>
                <a:sym typeface="Arial"/>
              </a:defRPr>
            </a:lvl1pPr>
            <a:lvl2pPr indent="-685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2pPr>
            <a:lvl3pPr indent="-685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3pPr>
            <a:lvl4pPr indent="-685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4pPr>
            <a:lvl5pPr indent="-685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9" name="Google Shape;149;p20"/>
          <p:cNvSpPr txBox="1"/>
          <p:nvPr>
            <p:ph idx="9" type="body"/>
          </p:nvPr>
        </p:nvSpPr>
        <p:spPr>
          <a:xfrm>
            <a:off x="5639204" y="2032676"/>
            <a:ext cx="2068607" cy="873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>
                <a:latin typeface="Arial"/>
                <a:ea typeface="Arial"/>
                <a:cs typeface="Arial"/>
                <a:sym typeface="Arial"/>
              </a:defRPr>
            </a:lvl1pPr>
            <a:lvl2pPr indent="-685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2pPr>
            <a:lvl3pPr indent="-685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3pPr>
            <a:lvl4pPr indent="-685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4pPr>
            <a:lvl5pPr indent="-685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1">
  <p:cSld name="Таблица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51" name="Google Shape;1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21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3" name="Google Shape;153;p21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4" name="Google Shape;154;p21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5" name="Google Shape;155;p21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21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8" name="Google Shape;158;p21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9" name="Google Shape;159;p21"/>
          <p:cNvSpPr txBox="1"/>
          <p:nvPr>
            <p:ph idx="3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0" name="Google Shape;160;p21"/>
          <p:cNvSpPr txBox="1"/>
          <p:nvPr>
            <p:ph idx="4" type="body"/>
          </p:nvPr>
        </p:nvSpPr>
        <p:spPr>
          <a:xfrm>
            <a:off x="439340" y="1085299"/>
            <a:ext cx="8293549" cy="230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200"/>
              <a:buNone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1" name="Google Shape;161;p21"/>
          <p:cNvSpPr txBox="1"/>
          <p:nvPr>
            <p:ph idx="5" type="body"/>
          </p:nvPr>
        </p:nvSpPr>
        <p:spPr>
          <a:xfrm>
            <a:off x="439341" y="4304392"/>
            <a:ext cx="5118227" cy="527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2">
  <p:cSld name="Таблица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63" name="Google Shape;1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22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5" name="Google Shape;165;p22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6" name="Google Shape;166;p22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" name="Google Shape;167;p22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22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9" name="Google Shape;169;p22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0" name="Google Shape;170;p22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1" name="Google Shape;171;p22"/>
          <p:cNvSpPr txBox="1"/>
          <p:nvPr>
            <p:ph idx="3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2" name="Google Shape;172;p22"/>
          <p:cNvSpPr txBox="1"/>
          <p:nvPr>
            <p:ph idx="4" type="body"/>
          </p:nvPr>
        </p:nvSpPr>
        <p:spPr>
          <a:xfrm>
            <a:off x="439340" y="1085298"/>
            <a:ext cx="5713408" cy="4027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200"/>
              <a:buNone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3" name="Google Shape;173;p22"/>
          <p:cNvSpPr txBox="1"/>
          <p:nvPr>
            <p:ph idx="5" type="body"/>
          </p:nvPr>
        </p:nvSpPr>
        <p:spPr>
          <a:xfrm>
            <a:off x="439341" y="4304392"/>
            <a:ext cx="5118227" cy="527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000"/>
              <a:buChar char="•"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4" name="Google Shape;174;p22"/>
          <p:cNvSpPr txBox="1"/>
          <p:nvPr>
            <p:ph idx="6" type="body"/>
          </p:nvPr>
        </p:nvSpPr>
        <p:spPr>
          <a:xfrm>
            <a:off x="6515105" y="1656272"/>
            <a:ext cx="2197999" cy="19280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чистый">
  <p:cSld name="чистый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0A204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3107" y="1982857"/>
            <a:ext cx="1177787" cy="1177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чистый_2">
  <p:cSld name="чистый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79" name="Google Shape;1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24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1" name="Google Shape;181;p24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2" name="Google Shape;182;p24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" name="Google Shape;183;p24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24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6" name="Google Shape;186;p24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7" name="Google Shape;187;p24"/>
          <p:cNvSpPr txBox="1"/>
          <p:nvPr>
            <p:ph idx="3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вет">
  <p:cSld name="цв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89" name="Google Shape;1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p25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1" name="Google Shape;191;p25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2" name="Google Shape;192;p25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p25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15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25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5" name="Google Shape;195;p25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6" name="Google Shape;196;p25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7" name="Google Shape;197;p25"/>
          <p:cNvSpPr txBox="1"/>
          <p:nvPr>
            <p:ph idx="3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b="0" i="0" sz="8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8" name="Google Shape;198;p25"/>
          <p:cNvSpPr txBox="1"/>
          <p:nvPr>
            <p:ph type="title"/>
          </p:nvPr>
        </p:nvSpPr>
        <p:spPr>
          <a:xfrm>
            <a:off x="439424" y="1085843"/>
            <a:ext cx="3241898" cy="582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25"/>
          <p:cNvSpPr txBox="1"/>
          <p:nvPr>
            <p:ph idx="4" type="body"/>
          </p:nvPr>
        </p:nvSpPr>
        <p:spPr>
          <a:xfrm>
            <a:off x="439424" y="1784747"/>
            <a:ext cx="3241898" cy="17995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0" name="Google Shape;200;p25"/>
          <p:cNvSpPr/>
          <p:nvPr/>
        </p:nvSpPr>
        <p:spPr>
          <a:xfrm>
            <a:off x="4044736" y="1085843"/>
            <a:ext cx="623248" cy="623248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5057194" y="1085843"/>
            <a:ext cx="623248" cy="623248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6069651" y="1085843"/>
            <a:ext cx="623248" cy="623248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7082108" y="1085843"/>
            <a:ext cx="623248" cy="623248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8094566" y="1085843"/>
            <a:ext cx="623248" cy="623248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4044736" y="2031524"/>
            <a:ext cx="623248" cy="623248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5057194" y="2031524"/>
            <a:ext cx="623248" cy="623248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5"/>
          <p:cNvSpPr/>
          <p:nvPr/>
        </p:nvSpPr>
        <p:spPr>
          <a:xfrm>
            <a:off x="6069651" y="2031524"/>
            <a:ext cx="623248" cy="623248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5"/>
          <p:cNvSpPr/>
          <p:nvPr/>
        </p:nvSpPr>
        <p:spPr>
          <a:xfrm>
            <a:off x="7082108" y="2031524"/>
            <a:ext cx="623248" cy="623248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5"/>
          <p:cNvSpPr/>
          <p:nvPr/>
        </p:nvSpPr>
        <p:spPr>
          <a:xfrm>
            <a:off x="8094566" y="2031524"/>
            <a:ext cx="623248" cy="623248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5"/>
          <p:cNvSpPr/>
          <p:nvPr/>
        </p:nvSpPr>
        <p:spPr>
          <a:xfrm>
            <a:off x="4044736" y="2977207"/>
            <a:ext cx="623248" cy="623248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5"/>
          <p:cNvSpPr/>
          <p:nvPr/>
        </p:nvSpPr>
        <p:spPr>
          <a:xfrm>
            <a:off x="5057194" y="2977207"/>
            <a:ext cx="623248" cy="623248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6069651" y="2977207"/>
            <a:ext cx="623248" cy="623248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7082108" y="2977207"/>
            <a:ext cx="623248" cy="623248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8094566" y="2977207"/>
            <a:ext cx="623248" cy="623248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5"/>
          <p:cNvSpPr/>
          <p:nvPr/>
        </p:nvSpPr>
        <p:spPr>
          <a:xfrm>
            <a:off x="4044736" y="3937327"/>
            <a:ext cx="623248" cy="623248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5"/>
          <p:cNvSpPr/>
          <p:nvPr/>
        </p:nvSpPr>
        <p:spPr>
          <a:xfrm>
            <a:off x="5057194" y="3937327"/>
            <a:ext cx="623248" cy="623248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6069651" y="3937327"/>
            <a:ext cx="623248" cy="623248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/>
          <p:nvPr/>
        </p:nvSpPr>
        <p:spPr>
          <a:xfrm>
            <a:off x="7082108" y="3937327"/>
            <a:ext cx="623248" cy="623248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5"/>
          <p:cNvSpPr/>
          <p:nvPr/>
        </p:nvSpPr>
        <p:spPr>
          <a:xfrm>
            <a:off x="8094566" y="3937327"/>
            <a:ext cx="623248" cy="623248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16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13.png"/><Relationship Id="rId8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>
            <p:ph type="title"/>
          </p:nvPr>
        </p:nvSpPr>
        <p:spPr>
          <a:xfrm>
            <a:off x="770975" y="2073078"/>
            <a:ext cx="5725500" cy="14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</a:pPr>
            <a:r>
              <a:rPr lang="ru"/>
              <a:t>Презентация на тему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</a:pPr>
            <a:r>
              <a:rPr b="1" lang="ru"/>
              <a:t>“QR-алгоритм”</a:t>
            </a:r>
            <a:endParaRPr b="1"/>
          </a:p>
        </p:txBody>
      </p:sp>
      <p:sp>
        <p:nvSpPr>
          <p:cNvPr id="225" name="Google Shape;225;p26"/>
          <p:cNvSpPr txBox="1"/>
          <p:nvPr>
            <p:ph idx="1" type="body"/>
          </p:nvPr>
        </p:nvSpPr>
        <p:spPr>
          <a:xfrm>
            <a:off x="1556199" y="890875"/>
            <a:ext cx="3138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ru"/>
              <a:t>Факультет экономических наук НИУ ВШЭ</a:t>
            </a:r>
            <a:endParaRPr/>
          </a:p>
        </p:txBody>
      </p:sp>
      <p:sp>
        <p:nvSpPr>
          <p:cNvPr id="226" name="Google Shape;226;p26"/>
          <p:cNvSpPr txBox="1"/>
          <p:nvPr>
            <p:ph idx="2" type="body"/>
          </p:nvPr>
        </p:nvSpPr>
        <p:spPr>
          <a:xfrm>
            <a:off x="4694565" y="880372"/>
            <a:ext cx="1708547" cy="347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/>
              <a:t>Волченков Арсений</a:t>
            </a:r>
            <a:endParaRPr/>
          </a:p>
        </p:txBody>
      </p:sp>
      <p:sp>
        <p:nvSpPr>
          <p:cNvPr id="227" name="Google Shape;227;p26"/>
          <p:cNvSpPr txBox="1"/>
          <p:nvPr>
            <p:ph idx="3" type="body"/>
          </p:nvPr>
        </p:nvSpPr>
        <p:spPr>
          <a:xfrm>
            <a:off x="6590040" y="880372"/>
            <a:ext cx="1663304" cy="347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/>
              <a:t>17.11.2025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/>
          <p:nvPr>
            <p:ph type="title"/>
          </p:nvPr>
        </p:nvSpPr>
        <p:spPr>
          <a:xfrm>
            <a:off x="706124" y="1085843"/>
            <a:ext cx="3934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/>
              <a:t>Основы QR-алгоритма</a:t>
            </a:r>
            <a:endParaRPr/>
          </a:p>
        </p:txBody>
      </p:sp>
      <p:sp>
        <p:nvSpPr>
          <p:cNvPr id="233" name="Google Shape;233;p27"/>
          <p:cNvSpPr txBox="1"/>
          <p:nvPr>
            <p:ph idx="1" type="body"/>
          </p:nvPr>
        </p:nvSpPr>
        <p:spPr>
          <a:xfrm>
            <a:off x="706125" y="1835550"/>
            <a:ext cx="4566900" cy="25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Calibri"/>
                <a:ea typeface="Calibri"/>
                <a:cs typeface="Calibri"/>
                <a:sym typeface="Calibri"/>
              </a:rPr>
              <a:t>QR-алгоритм — это метод вычисления собственных значений и собственных векторов матриц, широко используемый в линейной алгебре и численных методах. Он основан на последовательном разложении матрицы на произведение ортогональной матрицы Q и верхнетреугольной матрицы R (QR-разложение)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4" name="Google Shape;234;p27"/>
          <p:cNvSpPr txBox="1"/>
          <p:nvPr>
            <p:ph idx="3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/>
              <a:t>ИПС “Линейная алгебра и анализ данных в экономике</a:t>
            </a:r>
            <a:endParaRPr/>
          </a:p>
        </p:txBody>
      </p:sp>
      <p:sp>
        <p:nvSpPr>
          <p:cNvPr id="235" name="Google Shape;235;p27"/>
          <p:cNvSpPr txBox="1"/>
          <p:nvPr>
            <p:ph idx="4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/>
              <a:t>QR-алгоритм</a:t>
            </a:r>
            <a:endParaRPr/>
          </a:p>
        </p:txBody>
      </p:sp>
      <p:sp>
        <p:nvSpPr>
          <p:cNvPr id="236" name="Google Shape;236;p27"/>
          <p:cNvSpPr txBox="1"/>
          <p:nvPr>
            <p:ph idx="5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/>
              <a:t>Волченков Арсений</a:t>
            </a:r>
            <a:endParaRPr/>
          </a:p>
        </p:txBody>
      </p:sp>
      <p:pic>
        <p:nvPicPr>
          <p:cNvPr id="237" name="Google Shape;23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4800" y="1085850"/>
            <a:ext cx="2154700" cy="35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/>
          <p:nvPr>
            <p:ph idx="1" type="body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/>
              <a:t>ИПС “Линейная алгебра и анализ данных в экономике</a:t>
            </a:r>
            <a:endParaRPr/>
          </a:p>
        </p:txBody>
      </p:sp>
      <p:sp>
        <p:nvSpPr>
          <p:cNvPr id="243" name="Google Shape;243;p28"/>
          <p:cNvSpPr txBox="1"/>
          <p:nvPr>
            <p:ph idx="2" type="body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/>
              <a:t>QR-алгоритм</a:t>
            </a:r>
            <a:endParaRPr/>
          </a:p>
        </p:txBody>
      </p:sp>
      <p:sp>
        <p:nvSpPr>
          <p:cNvPr id="244" name="Google Shape;244;p28"/>
          <p:cNvSpPr txBox="1"/>
          <p:nvPr>
            <p:ph type="title"/>
          </p:nvPr>
        </p:nvSpPr>
        <p:spPr>
          <a:xfrm>
            <a:off x="325685" y="1041518"/>
            <a:ext cx="82935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/>
              <a:t>Шаги QR-алгоритма</a:t>
            </a:r>
            <a:endParaRPr/>
          </a:p>
        </p:txBody>
      </p:sp>
      <p:sp>
        <p:nvSpPr>
          <p:cNvPr id="245" name="Google Shape;245;p28"/>
          <p:cNvSpPr txBox="1"/>
          <p:nvPr>
            <p:ph idx="4" type="body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/>
              <a:t>Волченков Арсений</a:t>
            </a:r>
            <a:endParaRPr/>
          </a:p>
        </p:txBody>
      </p:sp>
      <p:sp>
        <p:nvSpPr>
          <p:cNvPr id="246" name="Google Shape;246;p28"/>
          <p:cNvSpPr txBox="1"/>
          <p:nvPr/>
        </p:nvSpPr>
        <p:spPr>
          <a:xfrm>
            <a:off x="210850" y="1497425"/>
            <a:ext cx="29643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Д</a:t>
            </a:r>
            <a:r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екомпозиция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Разлагаем матрицу A на ортогональную матрицу Q и верхнетреугольную матрицу 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8"/>
          <p:cNvSpPr txBox="1"/>
          <p:nvPr/>
        </p:nvSpPr>
        <p:spPr>
          <a:xfrm>
            <a:off x="6274525" y="1497425"/>
            <a:ext cx="27324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Итерирование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Повторяем шаги,добиваемся, чтобы </a:t>
            </a:r>
            <a:r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последовательность матриц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 сходилась к разложению Шура матрицы 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8"/>
          <p:cNvSpPr txBox="1"/>
          <p:nvPr/>
        </p:nvSpPr>
        <p:spPr>
          <a:xfrm>
            <a:off x="3256175" y="1497425"/>
            <a:ext cx="29643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Рекомбинация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Умножаем матрицы в обратном порядке, чтобы получить новую матрицу.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9" name="Google Shape;249;p28"/>
          <p:cNvCxnSpPr/>
          <p:nvPr/>
        </p:nvCxnSpPr>
        <p:spPr>
          <a:xfrm>
            <a:off x="3202125" y="1519175"/>
            <a:ext cx="39000" cy="336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28"/>
          <p:cNvCxnSpPr/>
          <p:nvPr/>
        </p:nvCxnSpPr>
        <p:spPr>
          <a:xfrm>
            <a:off x="6031600" y="1497425"/>
            <a:ext cx="3600" cy="342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1" name="Google Shape;25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75" y="4084479"/>
            <a:ext cx="2495950" cy="636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6038" y="4084475"/>
            <a:ext cx="2080658" cy="63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7725" y="4084475"/>
            <a:ext cx="1961450" cy="83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/>
          <p:nvPr>
            <p:ph idx="1" type="body"/>
          </p:nvPr>
        </p:nvSpPr>
        <p:spPr>
          <a:xfrm>
            <a:off x="857767" y="405678"/>
            <a:ext cx="14265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/>
              <a:t>ИПС “Линейная алгебра и анализ данных в экономике</a:t>
            </a:r>
            <a:endParaRPr/>
          </a:p>
        </p:txBody>
      </p:sp>
      <p:sp>
        <p:nvSpPr>
          <p:cNvPr id="259" name="Google Shape;259;p29"/>
          <p:cNvSpPr txBox="1"/>
          <p:nvPr>
            <p:ph idx="2" type="body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</a:pPr>
            <a:r>
              <a:rPr lang="ru"/>
              <a:t>QR-алгоритм</a:t>
            </a:r>
            <a:endParaRPr/>
          </a:p>
        </p:txBody>
      </p:sp>
      <p:sp>
        <p:nvSpPr>
          <p:cNvPr id="260" name="Google Shape;260;p29"/>
          <p:cNvSpPr txBox="1"/>
          <p:nvPr>
            <p:ph type="title"/>
          </p:nvPr>
        </p:nvSpPr>
        <p:spPr>
          <a:xfrm>
            <a:off x="439423" y="1085843"/>
            <a:ext cx="8293500" cy="5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Оценка сложности алгоритма. Наивная реализация</a:t>
            </a:r>
            <a:endParaRPr/>
          </a:p>
        </p:txBody>
      </p:sp>
      <p:sp>
        <p:nvSpPr>
          <p:cNvPr id="261" name="Google Shape;261;p29"/>
          <p:cNvSpPr txBox="1"/>
          <p:nvPr>
            <p:ph idx="4" type="body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</a:pPr>
            <a:r>
              <a:rPr lang="ru"/>
              <a:t>Волченков Арсений</a:t>
            </a:r>
            <a:endParaRPr/>
          </a:p>
        </p:txBody>
      </p:sp>
      <p:pic>
        <p:nvPicPr>
          <p:cNvPr id="262" name="Google Shape;2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8075" y="1668743"/>
            <a:ext cx="5247845" cy="316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"/>
          <p:cNvSpPr txBox="1"/>
          <p:nvPr>
            <p:ph idx="1" type="body"/>
          </p:nvPr>
        </p:nvSpPr>
        <p:spPr>
          <a:xfrm>
            <a:off x="857767" y="405678"/>
            <a:ext cx="14265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ИПС “Линейная алгебра и анализ данных в экономике</a:t>
            </a:r>
            <a:endParaRPr/>
          </a:p>
        </p:txBody>
      </p:sp>
      <p:sp>
        <p:nvSpPr>
          <p:cNvPr id="268" name="Google Shape;268;p30"/>
          <p:cNvSpPr txBox="1"/>
          <p:nvPr>
            <p:ph idx="2" type="body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QR-алгоритм</a:t>
            </a:r>
            <a:endParaRPr/>
          </a:p>
        </p:txBody>
      </p:sp>
      <p:sp>
        <p:nvSpPr>
          <p:cNvPr id="269" name="Google Shape;269;p30"/>
          <p:cNvSpPr txBox="1"/>
          <p:nvPr>
            <p:ph type="title"/>
          </p:nvPr>
        </p:nvSpPr>
        <p:spPr>
          <a:xfrm>
            <a:off x="439423" y="1085843"/>
            <a:ext cx="8293500" cy="5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Оценка сложности алгоритма. Форма Хессенберга</a:t>
            </a:r>
            <a:endParaRPr/>
          </a:p>
        </p:txBody>
      </p:sp>
      <p:sp>
        <p:nvSpPr>
          <p:cNvPr id="270" name="Google Shape;270;p30"/>
          <p:cNvSpPr txBox="1"/>
          <p:nvPr>
            <p:ph idx="4" type="body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Волченков Арсений</a:t>
            </a:r>
            <a:endParaRPr/>
          </a:p>
        </p:txBody>
      </p:sp>
      <p:pic>
        <p:nvPicPr>
          <p:cNvPr id="271" name="Google Shape;27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5500" y="1520792"/>
            <a:ext cx="6312993" cy="3169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1"/>
          <p:cNvSpPr txBox="1"/>
          <p:nvPr>
            <p:ph idx="1" type="body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/>
              <a:t>ИПС “Линейная алгебра и анализ данных в экономике</a:t>
            </a:r>
            <a:endParaRPr/>
          </a:p>
        </p:txBody>
      </p:sp>
      <p:sp>
        <p:nvSpPr>
          <p:cNvPr id="277" name="Google Shape;277;p31"/>
          <p:cNvSpPr txBox="1"/>
          <p:nvPr>
            <p:ph idx="2" type="body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/>
              <a:t>QR-алгоритм</a:t>
            </a:r>
            <a:endParaRPr/>
          </a:p>
        </p:txBody>
      </p:sp>
      <p:sp>
        <p:nvSpPr>
          <p:cNvPr id="278" name="Google Shape;278;p31"/>
          <p:cNvSpPr txBox="1"/>
          <p:nvPr>
            <p:ph type="title"/>
          </p:nvPr>
        </p:nvSpPr>
        <p:spPr>
          <a:xfrm>
            <a:off x="439423" y="1085843"/>
            <a:ext cx="82935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/>
              <a:t>Преимущества QR-алгоритма</a:t>
            </a:r>
            <a:endParaRPr/>
          </a:p>
        </p:txBody>
      </p:sp>
      <p:sp>
        <p:nvSpPr>
          <p:cNvPr id="279" name="Google Shape;279;p31"/>
          <p:cNvSpPr txBox="1"/>
          <p:nvPr>
            <p:ph idx="4" type="body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/>
              <a:t>Волченков Арсений</a:t>
            </a:r>
            <a:endParaRPr/>
          </a:p>
        </p:txBody>
      </p:sp>
      <p:sp>
        <p:nvSpPr>
          <p:cNvPr id="280" name="Google Shape;280;p31"/>
          <p:cNvSpPr txBox="1"/>
          <p:nvPr/>
        </p:nvSpPr>
        <p:spPr>
          <a:xfrm>
            <a:off x="629175" y="1798325"/>
            <a:ext cx="64686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ru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Работает для любых квадратных матриц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ru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Вычислительно устойчив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ru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Находит все собственные значения одновременно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lang="ru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Может также посчитать собственные векторы с достаточно высокой точностью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7275" y="3180043"/>
            <a:ext cx="1741426" cy="1741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2"/>
          <p:cNvSpPr txBox="1"/>
          <p:nvPr>
            <p:ph idx="1" type="body"/>
          </p:nvPr>
        </p:nvSpPr>
        <p:spPr>
          <a:xfrm>
            <a:off x="857767" y="405678"/>
            <a:ext cx="14265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/>
              <a:t>ИПС “Линейная алгебра и анализ данных в экономике</a:t>
            </a:r>
            <a:endParaRPr/>
          </a:p>
        </p:txBody>
      </p:sp>
      <p:sp>
        <p:nvSpPr>
          <p:cNvPr id="287" name="Google Shape;287;p32"/>
          <p:cNvSpPr txBox="1"/>
          <p:nvPr>
            <p:ph idx="2" type="body"/>
          </p:nvPr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/>
              <a:t>QR-алгоритм</a:t>
            </a:r>
            <a:endParaRPr/>
          </a:p>
        </p:txBody>
      </p:sp>
      <p:sp>
        <p:nvSpPr>
          <p:cNvPr id="288" name="Google Shape;288;p32"/>
          <p:cNvSpPr txBox="1"/>
          <p:nvPr>
            <p:ph type="title"/>
          </p:nvPr>
        </p:nvSpPr>
        <p:spPr>
          <a:xfrm>
            <a:off x="439423" y="1085843"/>
            <a:ext cx="82935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"/>
              <a:t>Применение QR-алгоритма</a:t>
            </a:r>
            <a:endParaRPr/>
          </a:p>
        </p:txBody>
      </p:sp>
      <p:sp>
        <p:nvSpPr>
          <p:cNvPr id="289" name="Google Shape;289;p32"/>
          <p:cNvSpPr txBox="1"/>
          <p:nvPr>
            <p:ph idx="4" type="body"/>
          </p:nvPr>
        </p:nvSpPr>
        <p:spPr>
          <a:xfrm>
            <a:off x="4694919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/>
              <a:t>Волченков Арсений</a:t>
            </a:r>
            <a:endParaRPr/>
          </a:p>
        </p:txBody>
      </p:sp>
      <p:pic>
        <p:nvPicPr>
          <p:cNvPr id="290" name="Google Shape;2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775" y="1668750"/>
            <a:ext cx="3150900" cy="87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775" y="2773273"/>
            <a:ext cx="2755669" cy="87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9775" y="3877800"/>
            <a:ext cx="2414238" cy="87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2050" y="1900049"/>
            <a:ext cx="2867089" cy="87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32049" y="3239376"/>
            <a:ext cx="3150900" cy="91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92625" y="3239367"/>
            <a:ext cx="439425" cy="456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56176" y="1877137"/>
            <a:ext cx="512331" cy="45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0349" y="3797401"/>
            <a:ext cx="439425" cy="420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00349" y="2696506"/>
            <a:ext cx="439425" cy="430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27049" y="1595598"/>
            <a:ext cx="386016" cy="43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